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72" r:id="rId3"/>
    <p:sldId id="279" r:id="rId4"/>
    <p:sldId id="259" r:id="rId5"/>
    <p:sldId id="264" r:id="rId6"/>
    <p:sldId id="280" r:id="rId7"/>
    <p:sldId id="295" r:id="rId8"/>
    <p:sldId id="330" r:id="rId9"/>
    <p:sldId id="331" r:id="rId10"/>
    <p:sldId id="316" r:id="rId11"/>
    <p:sldId id="332" r:id="rId12"/>
    <p:sldId id="335" r:id="rId13"/>
    <p:sldId id="301" r:id="rId14"/>
    <p:sldId id="342" r:id="rId15"/>
    <p:sldId id="312" r:id="rId16"/>
    <p:sldId id="343" r:id="rId17"/>
    <p:sldId id="270" r:id="rId18"/>
    <p:sldId id="293" r:id="rId19"/>
    <p:sldId id="341" r:id="rId20"/>
    <p:sldId id="344" r:id="rId21"/>
    <p:sldId id="294" r:id="rId22"/>
    <p:sldId id="345" r:id="rId23"/>
    <p:sldId id="283" r:id="rId24"/>
    <p:sldId id="336" r:id="rId25"/>
    <p:sldId id="346" r:id="rId26"/>
    <p:sldId id="319" r:id="rId27"/>
    <p:sldId id="340" r:id="rId28"/>
    <p:sldId id="282" r:id="rId29"/>
    <p:sldId id="290" r:id="rId30"/>
    <p:sldId id="338" r:id="rId31"/>
    <p:sldId id="337" r:id="rId32"/>
    <p:sldId id="276" r:id="rId33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B2D9"/>
    <a:srgbClr val="59EB93"/>
    <a:srgbClr val="488FFF"/>
    <a:srgbClr val="49CAFF"/>
    <a:srgbClr val="0C61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35"/>
    <p:restoredTop sz="96327"/>
  </p:normalViewPr>
  <p:slideViewPr>
    <p:cSldViewPr snapToGrid="0" snapToObjects="1">
      <p:cViewPr>
        <p:scale>
          <a:sx n="65" d="100"/>
          <a:sy n="65" d="100"/>
        </p:scale>
        <p:origin x="1264" y="2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5B741B-1E58-3AD6-C132-A998DE284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61FC2B-9B08-B522-BC94-93B7DA934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036C5B-D597-1EA2-F606-DBDC32D84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7/5/22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B3AB97-3DED-7F6C-DA8F-335FAC97B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4A738B-1D64-25C2-07E8-37235240F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57571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96B3C3-D14C-05A2-87E0-497F2206C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3C70AC-F0B3-96E1-3F46-E7413F9CA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E37DAD-D5EC-B044-A562-09FDCF24F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7/5/22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59E91A-1982-6DDB-EDC8-58F45BE0E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EC775-FF35-51C7-7589-D68F78BA0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35100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D8FC2E-1F96-8C83-FAC0-8BAC22BBD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62F78F-6AB3-E798-D954-4569BBFE6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2A002B-46CE-DFC9-B211-47F694C6D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7/5/22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DDEFE8-7938-8EBB-89AC-EEC2D6DB4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25D0FB-A869-8610-5A8A-E135CDC01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3568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429B4-12CD-D7B8-13F3-A4F4E8BBE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0C87DB-CA31-0907-B61D-A7384004F3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B02E39-CCCD-8554-E4DD-22924D5EB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7D24AB-7766-EBBC-C6CF-5DC96A1A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7/5/22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CCE8F0-18EB-9B65-C6EA-06C5F619D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FB7E50-B168-C538-34BF-420334EB1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1310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F8FC48-A1B8-A9F7-32C8-A7FCDDF41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D703E9-E847-CB4F-361C-9A22A1F69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0877ED-DEC4-8590-0E3A-B2D02E726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531689-E524-6AD4-9F65-01F3CE446C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0DD1A11-7384-6959-9477-060C482279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D1EA328-D997-9B52-BCD6-852C6D629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7/5/22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AB4AA8-C79E-90B2-3E62-46C35D293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766CE08-FC7D-7D42-4F96-4E8B8B550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79284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B4042C-04D8-ABBA-1F0B-7551CD985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02DFB25-AF1A-D138-388F-61982560B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7/5/22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E16820-C294-D965-6C6E-0EBE67E74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DD4EED-B619-CF46-0F10-34A21A01F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70094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FC672F8-00B6-3314-944B-9B27F5342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7/5/22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DC50111-D4DE-6C32-603A-4B7949BD1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8C6C9D-AD0C-D3B5-07D8-DB230B407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64280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055BE2-B63C-7244-CEAE-EEC35A482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9ADF54-A7D3-F9C3-E3BD-434E0B6C2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8AB5B2-D97E-A26C-D6A2-087697B79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11BE38-8D17-D085-8879-FD98DC22D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7/5/22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D3B2F4-658D-5EBD-30BC-FB0946324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DABCAB-FFF5-7B95-7BE2-5C55DB16A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96627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4B5E5-A903-B7F0-07DF-D6DFB2973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ABFF731-0EF8-9C7C-323E-A04B64A36F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1E730F-C343-85BE-4723-CC1F35D83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C91070-6EA9-6FEF-0511-933CD2131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7/5/22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FB8213-6474-BB33-40A1-11E02788A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EB19D7-904B-BA7A-93F8-3C2FC99D0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17868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D7058C-41D7-0E73-B9EE-F9A55D64A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F783A5-CE21-0BEE-BA06-75719C0AC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EAACB1-CB6D-3A5B-FF4C-7D2A86E9E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7/5/22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0FBECC-B1C8-6255-A18E-B1ABE6D5C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F503A0-F364-0BC1-2C92-FE7226E6E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21175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A11A67B-9252-8593-708C-847DF5557D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A405A4-B0EE-6BE6-2B73-8B93AF45B8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C404A5-D3B8-123A-7F22-10E56DD76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99ECF-BE6D-7248-80F1-E6948D730B15}" type="datetimeFigureOut">
              <a:rPr kumimoji="1" lang="ko-Kore-KR" altLang="en-US" smtClean="0"/>
              <a:t>7/5/22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5575DE-CB87-3097-8234-13A8DD8AE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ED10DB-B43C-DADB-2A10-DE009E710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66354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84FF11-D99F-F7B5-1A7C-2318BE4E7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474568-3801-39DB-0B97-F1CF8F2AA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0677DB-32A4-72A8-C486-3C6BB7F9A7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099ECF-BE6D-7248-80F1-E6948D730B15}" type="datetimeFigureOut">
              <a:rPr kumimoji="1" lang="ko-Kore-KR" altLang="en-US" smtClean="0"/>
              <a:t>7/5/22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86BF37-83F7-5EF3-994A-CE3D904890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E0DF84-7359-5E38-B4FB-662D3F7DC6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F499C-31F2-DA43-A83C-60BEB26AA95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5161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FB49254-1834-5171-8A65-C0F51C8AB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0" y="2508250"/>
            <a:ext cx="2794000" cy="18415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DE4E6E3-502B-5549-8907-EBE52AD9B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6968"/>
            <a:ext cx="10515600" cy="1325563"/>
          </a:xfrm>
        </p:spPr>
        <p:txBody>
          <a:bodyPr/>
          <a:lstStyle/>
          <a:p>
            <a:pPr algn="ctr"/>
            <a:r>
              <a:rPr kumimoji="1" lang="ko-Kore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세션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로딩 중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3561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BDD9C-4EC8-E211-2C98-B5EE07203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113211"/>
            <a:ext cx="9144000" cy="1193800"/>
          </a:xfrm>
        </p:spPr>
        <p:txBody>
          <a:bodyPr anchor="ctr" anchorCtr="1">
            <a:normAutofit/>
          </a:bodyPr>
          <a:lstStyle/>
          <a:p>
            <a:endParaRPr kumimoji="1" lang="ko-Kore-KR" altLang="en-US" sz="30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43D92F-144F-6AB7-65EB-D309EFC38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356" y="2683363"/>
            <a:ext cx="3253288" cy="149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9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BDD9C-4EC8-E211-2C98-B5EE07203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113211"/>
            <a:ext cx="9144000" cy="1193800"/>
          </a:xfrm>
        </p:spPr>
        <p:txBody>
          <a:bodyPr anchor="ctr" anchorCtr="1">
            <a:normAutofit/>
          </a:bodyPr>
          <a:lstStyle/>
          <a:p>
            <a:r>
              <a:rPr kumimoji="1" lang="ko-KR" altLang="en-US" sz="30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군집화 알고리즘</a:t>
            </a:r>
            <a:endParaRPr kumimoji="1" lang="ko-Kore-KR" altLang="en-US" sz="30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43D92F-144F-6AB7-65EB-D309EFC38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356" y="2683363"/>
            <a:ext cx="3253288" cy="149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033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학습목표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C58373-E7C5-A85E-5188-9232F8CCE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분류 </a:t>
            </a:r>
            <a:r>
              <a:rPr kumimoji="1" lang="en-US" altLang="ko-KR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vs </a:t>
            </a: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회귀</a:t>
            </a:r>
            <a:endParaRPr kumimoji="1" lang="en-US" altLang="ko-KR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군집화</a:t>
            </a:r>
            <a:endParaRPr kumimoji="1" lang="en-US" altLang="ko-KR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연관규칙추론</a:t>
            </a:r>
            <a:endParaRPr kumimoji="1" lang="en-US" altLang="ko-KR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아이디어톤</a:t>
            </a:r>
            <a:endParaRPr kumimoji="1" lang="en-US" altLang="ko-KR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948E596-68B0-7A51-3F45-A4A5A07972D0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59733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E31EC03-D72B-94AA-C168-E0FF7E997512}"/>
              </a:ext>
            </a:extLst>
          </p:cNvPr>
          <p:cNvSpPr/>
          <p:nvPr/>
        </p:nvSpPr>
        <p:spPr>
          <a:xfrm rot="10800000">
            <a:off x="0" y="0"/>
            <a:ext cx="12237003" cy="6858000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C32B87-7FA0-FA6B-E4DC-C1399EE5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66218"/>
            <a:ext cx="10515600" cy="1325563"/>
          </a:xfrm>
        </p:spPr>
        <p:txBody>
          <a:bodyPr/>
          <a:lstStyle/>
          <a:p>
            <a:pPr algn="ctr"/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0.</a:t>
            </a:r>
            <a:r>
              <a:rPr kumimoji="1" lang="ko-KR" altLang="en-US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지난시간 복습</a:t>
            </a:r>
            <a:endParaRPr kumimoji="1" lang="ko-Kore-KR" altLang="en-US" b="1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7904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지난시간 복습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39C0A9-CEB6-5D5E-783D-AD293CA81753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6355CD8F-56F7-4408-D961-5C8F3FC6FF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1082441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지난시간 복습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39C0A9-CEB6-5D5E-783D-AD293CA81753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16D72A-0C97-5623-2D82-F55C99966584}"/>
              </a:ext>
            </a:extLst>
          </p:cNvPr>
          <p:cNvSpPr txBox="1"/>
          <p:nvPr/>
        </p:nvSpPr>
        <p:spPr>
          <a:xfrm>
            <a:off x="4423907" y="2743200"/>
            <a:ext cx="334418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b="1" dirty="0"/>
              <a:t>물고기의 종류를 예측하는 모델</a:t>
            </a:r>
            <a:endParaRPr kumimoji="1" lang="en-US" altLang="ko-KR" b="1" dirty="0"/>
          </a:p>
          <a:p>
            <a:pPr algn="ctr"/>
            <a:endParaRPr kumimoji="1" lang="en-US" altLang="ko-KR" b="1" dirty="0"/>
          </a:p>
          <a:p>
            <a:pPr algn="ctr"/>
            <a:r>
              <a:rPr kumimoji="1" lang="en-US" altLang="ko-KR" b="1" dirty="0"/>
              <a:t>Vs</a:t>
            </a:r>
          </a:p>
          <a:p>
            <a:pPr algn="ctr"/>
            <a:endParaRPr kumimoji="1" lang="en-US" altLang="ko-KR" b="1" dirty="0"/>
          </a:p>
          <a:p>
            <a:pPr algn="ctr"/>
            <a:r>
              <a:rPr kumimoji="1" lang="ko-KR" altLang="en-US" b="1" dirty="0"/>
              <a:t>물고기의 무게를 예측하는 모델</a:t>
            </a:r>
            <a:endParaRPr kumimoji="1" lang="en-US" altLang="ko-KR" b="1" dirty="0"/>
          </a:p>
          <a:p>
            <a:pPr algn="ctr"/>
            <a:endParaRPr kumimoji="1" lang="en-US" altLang="ko-KR" b="1" dirty="0"/>
          </a:p>
          <a:p>
            <a:pPr algn="ctr"/>
            <a:r>
              <a:rPr kumimoji="1" lang="en-US" altLang="ko-KR" b="1" dirty="0"/>
              <a:t>Vs</a:t>
            </a:r>
          </a:p>
          <a:p>
            <a:pPr algn="ctr"/>
            <a:endParaRPr kumimoji="1" lang="en-US" altLang="ko-KR" b="1" dirty="0"/>
          </a:p>
          <a:p>
            <a:pPr algn="ctr"/>
            <a:r>
              <a:rPr kumimoji="1" lang="ko-KR" altLang="en-US" b="1" dirty="0">
                <a:solidFill>
                  <a:srgbClr val="FF0000"/>
                </a:solidFill>
              </a:rPr>
              <a:t>물고기의 확률을 예측하는 모델</a:t>
            </a:r>
            <a:endParaRPr kumimoji="1" lang="en-US" altLang="ko-K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301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지난시간 복습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39C0A9-CEB6-5D5E-783D-AD293CA81753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16D72A-0C97-5623-2D82-F55C99966584}"/>
              </a:ext>
            </a:extLst>
          </p:cNvPr>
          <p:cNvSpPr txBox="1"/>
          <p:nvPr/>
        </p:nvSpPr>
        <p:spPr>
          <a:xfrm>
            <a:off x="3890051" y="2743200"/>
            <a:ext cx="441191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b="1" dirty="0"/>
              <a:t>물고기의 종류 </a:t>
            </a:r>
            <a:r>
              <a:rPr kumimoji="1" lang="en-US" altLang="ko-KR" b="1" dirty="0"/>
              <a:t>=</a:t>
            </a:r>
            <a:r>
              <a:rPr kumimoji="1" lang="ko-KR" altLang="en-US" b="1" dirty="0"/>
              <a:t> 범주형 데이터 </a:t>
            </a:r>
            <a:r>
              <a:rPr kumimoji="1" lang="en-US" altLang="ko-KR" b="1" dirty="0"/>
              <a:t>like </a:t>
            </a:r>
            <a:r>
              <a:rPr kumimoji="1" lang="ko-KR" altLang="en-US" b="1" dirty="0"/>
              <a:t>객관식</a:t>
            </a:r>
            <a:endParaRPr kumimoji="1" lang="en-US" altLang="ko-KR" b="1" dirty="0"/>
          </a:p>
          <a:p>
            <a:pPr algn="ctr"/>
            <a:endParaRPr kumimoji="1" lang="en-US" altLang="ko-KR" b="1" dirty="0"/>
          </a:p>
          <a:p>
            <a:pPr algn="ctr"/>
            <a:r>
              <a:rPr kumimoji="1" lang="en-US" altLang="ko-KR" b="1" dirty="0"/>
              <a:t>Vs</a:t>
            </a:r>
          </a:p>
          <a:p>
            <a:pPr algn="ctr"/>
            <a:endParaRPr kumimoji="1" lang="en-US" altLang="ko-KR" b="1" dirty="0"/>
          </a:p>
          <a:p>
            <a:pPr algn="ctr"/>
            <a:r>
              <a:rPr kumimoji="1" lang="ko-KR" altLang="en-US" b="1" dirty="0"/>
              <a:t>물고기의 무게 </a:t>
            </a:r>
            <a:r>
              <a:rPr kumimoji="1" lang="en-US" altLang="ko-KR" b="1" dirty="0"/>
              <a:t>=</a:t>
            </a:r>
            <a:r>
              <a:rPr kumimoji="1" lang="ko-KR" altLang="en-US" b="1" dirty="0"/>
              <a:t> 수치형 데이터 </a:t>
            </a:r>
            <a:r>
              <a:rPr kumimoji="1" lang="en-US" altLang="ko-KR" b="1" dirty="0"/>
              <a:t>like </a:t>
            </a:r>
            <a:r>
              <a:rPr kumimoji="1" lang="ko-KR" altLang="en-US" b="1" dirty="0"/>
              <a:t>주관식</a:t>
            </a:r>
            <a:endParaRPr kumimoji="1" lang="en-US" altLang="ko-KR" b="1" dirty="0"/>
          </a:p>
          <a:p>
            <a:pPr algn="ctr"/>
            <a:endParaRPr kumimoji="1" lang="en-US" altLang="ko-KR" b="1" dirty="0"/>
          </a:p>
          <a:p>
            <a:pPr algn="ctr"/>
            <a:r>
              <a:rPr kumimoji="1" lang="en-US" altLang="ko-KR" b="1" dirty="0"/>
              <a:t>Vs</a:t>
            </a:r>
          </a:p>
          <a:p>
            <a:pPr algn="ctr"/>
            <a:endParaRPr kumimoji="1" lang="en-US" altLang="ko-KR" b="1" dirty="0"/>
          </a:p>
          <a:p>
            <a:pPr algn="ctr"/>
            <a:r>
              <a:rPr kumimoji="1" lang="ko-KR" altLang="en-US" b="1" dirty="0">
                <a:solidFill>
                  <a:srgbClr val="FF0000"/>
                </a:solidFill>
              </a:rPr>
              <a:t>물고기의 무게 </a:t>
            </a:r>
            <a:r>
              <a:rPr kumimoji="1" lang="en-US" altLang="ko-KR" b="1" dirty="0">
                <a:solidFill>
                  <a:srgbClr val="FF0000"/>
                </a:solidFill>
              </a:rPr>
              <a:t>=</a:t>
            </a:r>
            <a:r>
              <a:rPr kumimoji="1" lang="ko-KR" altLang="en-US" b="1" dirty="0">
                <a:solidFill>
                  <a:srgbClr val="FF0000"/>
                </a:solidFill>
              </a:rPr>
              <a:t> 확률형 데이터 </a:t>
            </a:r>
            <a:r>
              <a:rPr kumimoji="1" lang="en-US" altLang="ko-KR" b="1" dirty="0">
                <a:solidFill>
                  <a:srgbClr val="FF0000"/>
                </a:solidFill>
              </a:rPr>
              <a:t>like 0</a:t>
            </a:r>
            <a:r>
              <a:rPr kumimoji="1" lang="ko-KR" altLang="en-US" b="1" dirty="0">
                <a:solidFill>
                  <a:srgbClr val="FF0000"/>
                </a:solidFill>
              </a:rPr>
              <a:t> </a:t>
            </a:r>
            <a:r>
              <a:rPr kumimoji="1" lang="en-US" altLang="ko-KR" b="1" dirty="0">
                <a:solidFill>
                  <a:srgbClr val="FF0000"/>
                </a:solidFill>
              </a:rPr>
              <a:t>~</a:t>
            </a:r>
            <a:r>
              <a:rPr kumimoji="1" lang="ko-KR" altLang="en-US" b="1" dirty="0">
                <a:solidFill>
                  <a:srgbClr val="FF0000"/>
                </a:solidFill>
              </a:rPr>
              <a:t> </a:t>
            </a:r>
            <a:r>
              <a:rPr kumimoji="1" lang="en-US" altLang="ko-KR" b="1" dirty="0">
                <a:solidFill>
                  <a:srgbClr val="FF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32676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지난시간 복습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39C0A9-CEB6-5D5E-783D-AD293CA81753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E7841E-6970-6B83-A216-B9D944B22768}"/>
              </a:ext>
            </a:extLst>
          </p:cNvPr>
          <p:cNvSpPr txBox="1"/>
          <p:nvPr/>
        </p:nvSpPr>
        <p:spPr>
          <a:xfrm>
            <a:off x="3187992" y="1690688"/>
            <a:ext cx="5816015" cy="42021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dirty="0"/>
              <a:t>가지고 있는 데이터에 </a:t>
            </a:r>
            <a:r>
              <a:rPr kumimoji="1" lang="ko-KR" altLang="en-US" b="1" dirty="0"/>
              <a:t>독립변수</a:t>
            </a:r>
            <a:r>
              <a:rPr kumimoji="1" lang="ko-KR" altLang="en-US" dirty="0"/>
              <a:t>와 </a:t>
            </a:r>
            <a:r>
              <a:rPr kumimoji="1" lang="ko-KR" altLang="en-US" b="1" dirty="0"/>
              <a:t>종속변수</a:t>
            </a:r>
            <a:r>
              <a:rPr kumimoji="1" lang="ko-KR" altLang="en-US" dirty="0"/>
              <a:t>가 있고</a:t>
            </a:r>
            <a:r>
              <a:rPr kumimoji="1" lang="en-US" altLang="ko-KR" dirty="0"/>
              <a:t>,</a:t>
            </a:r>
          </a:p>
          <a:p>
            <a:pPr algn="ctr">
              <a:lnSpc>
                <a:spcPct val="150000"/>
              </a:lnSpc>
            </a:pPr>
            <a:r>
              <a:rPr kumimoji="1" lang="ko-KR" altLang="en-US" b="1" dirty="0">
                <a:solidFill>
                  <a:srgbClr val="FF0000"/>
                </a:solidFill>
              </a:rPr>
              <a:t>종속변수</a:t>
            </a:r>
            <a:r>
              <a:rPr kumimoji="1" lang="ko-KR" altLang="en-US" dirty="0">
                <a:solidFill>
                  <a:srgbClr val="FF0000"/>
                </a:solidFill>
              </a:rPr>
              <a:t>가 </a:t>
            </a:r>
            <a:r>
              <a:rPr kumimoji="1" lang="ko-KR" altLang="en-US" b="1" dirty="0">
                <a:solidFill>
                  <a:srgbClr val="FF0000"/>
                </a:solidFill>
              </a:rPr>
              <a:t>이름</a:t>
            </a:r>
            <a:r>
              <a:rPr kumimoji="1" lang="ko-KR" altLang="en-US" dirty="0">
                <a:solidFill>
                  <a:srgbClr val="FF0000"/>
                </a:solidFill>
              </a:rPr>
              <a:t>일때 </a:t>
            </a:r>
            <a:r>
              <a:rPr kumimoji="1" lang="ko-KR" altLang="en-US" b="1" dirty="0">
                <a:solidFill>
                  <a:srgbClr val="FF0000"/>
                </a:solidFill>
              </a:rPr>
              <a:t>분류</a:t>
            </a:r>
            <a:r>
              <a:rPr kumimoji="1" lang="ko-KR" altLang="en-US" dirty="0">
                <a:solidFill>
                  <a:srgbClr val="FF0000"/>
                </a:solidFill>
              </a:rPr>
              <a:t>를 이용하면 됩니다</a:t>
            </a:r>
            <a:r>
              <a:rPr kumimoji="1" lang="en-US" altLang="ko-KR" dirty="0">
                <a:solidFill>
                  <a:srgbClr val="FF0000"/>
                </a:solidFill>
              </a:rPr>
              <a:t>.</a:t>
            </a:r>
          </a:p>
          <a:p>
            <a:pPr algn="ctr">
              <a:lnSpc>
                <a:spcPct val="150000"/>
              </a:lnSpc>
            </a:pPr>
            <a:endParaRPr kumimoji="1" lang="en-US" altLang="ko-KR" dirty="0"/>
          </a:p>
          <a:p>
            <a:pPr algn="ctr">
              <a:lnSpc>
                <a:spcPct val="150000"/>
              </a:lnSpc>
            </a:pPr>
            <a:endParaRPr kumimoji="1" lang="en-US" altLang="ko-KR" dirty="0"/>
          </a:p>
          <a:p>
            <a:pPr algn="ctr">
              <a:lnSpc>
                <a:spcPct val="150000"/>
              </a:lnSpc>
            </a:pPr>
            <a:r>
              <a:rPr kumimoji="1" lang="ko-KR" altLang="en-US" dirty="0"/>
              <a:t>가지고 있는 데이터에 </a:t>
            </a:r>
            <a:r>
              <a:rPr kumimoji="1" lang="ko-KR" altLang="en-US" b="1" dirty="0"/>
              <a:t>독립변수</a:t>
            </a:r>
            <a:r>
              <a:rPr kumimoji="1" lang="ko-KR" altLang="en-US" dirty="0"/>
              <a:t>와 </a:t>
            </a:r>
            <a:r>
              <a:rPr kumimoji="1" lang="ko-KR" altLang="en-US" b="1" dirty="0"/>
              <a:t>종속변수</a:t>
            </a:r>
            <a:r>
              <a:rPr kumimoji="1" lang="ko-KR" altLang="en-US" dirty="0"/>
              <a:t>가 있고</a:t>
            </a:r>
            <a:r>
              <a:rPr kumimoji="1" lang="en-US" altLang="ko-KR" dirty="0"/>
              <a:t>,</a:t>
            </a:r>
          </a:p>
          <a:p>
            <a:pPr algn="ctr">
              <a:lnSpc>
                <a:spcPct val="150000"/>
              </a:lnSpc>
            </a:pPr>
            <a:r>
              <a:rPr kumimoji="1" lang="ko-KR" altLang="en-US" b="1" dirty="0">
                <a:solidFill>
                  <a:srgbClr val="FF0000"/>
                </a:solidFill>
              </a:rPr>
              <a:t>종속변수</a:t>
            </a:r>
            <a:r>
              <a:rPr kumimoji="1" lang="ko-KR" altLang="en-US" dirty="0">
                <a:solidFill>
                  <a:srgbClr val="FF0000"/>
                </a:solidFill>
              </a:rPr>
              <a:t>가 </a:t>
            </a:r>
            <a:r>
              <a:rPr kumimoji="1" lang="ko-KR" altLang="en-US" b="1" dirty="0">
                <a:solidFill>
                  <a:srgbClr val="FF0000"/>
                </a:solidFill>
              </a:rPr>
              <a:t>숫자</a:t>
            </a:r>
            <a:r>
              <a:rPr kumimoji="1" lang="ko-KR" altLang="en-US" dirty="0">
                <a:solidFill>
                  <a:srgbClr val="FF0000"/>
                </a:solidFill>
              </a:rPr>
              <a:t>일때 </a:t>
            </a:r>
            <a:r>
              <a:rPr kumimoji="1" lang="ko-KR" altLang="en-US" b="1" dirty="0">
                <a:solidFill>
                  <a:srgbClr val="FF0000"/>
                </a:solidFill>
              </a:rPr>
              <a:t>회귀</a:t>
            </a:r>
            <a:r>
              <a:rPr kumimoji="1" lang="ko-KR" altLang="en-US" dirty="0">
                <a:solidFill>
                  <a:srgbClr val="FF0000"/>
                </a:solidFill>
              </a:rPr>
              <a:t>를 이용하면 됩니다</a:t>
            </a:r>
            <a:r>
              <a:rPr kumimoji="1" lang="en-US" altLang="ko-KR" dirty="0">
                <a:solidFill>
                  <a:srgbClr val="FF0000"/>
                </a:solidFill>
              </a:rPr>
              <a:t>.</a:t>
            </a:r>
            <a:endParaRPr kumimoji="1" lang="en-US" altLang="ko-KR" dirty="0"/>
          </a:p>
          <a:p>
            <a:pPr algn="ctr">
              <a:lnSpc>
                <a:spcPct val="150000"/>
              </a:lnSpc>
            </a:pPr>
            <a:endParaRPr kumimoji="1" lang="en-US" altLang="ko-KR" dirty="0"/>
          </a:p>
          <a:p>
            <a:pPr algn="ctr">
              <a:lnSpc>
                <a:spcPct val="150000"/>
              </a:lnSpc>
            </a:pPr>
            <a:endParaRPr kumimoji="1" lang="en-US" altLang="ko-KR" dirty="0"/>
          </a:p>
          <a:p>
            <a:pPr algn="ctr">
              <a:lnSpc>
                <a:spcPct val="150000"/>
              </a:lnSpc>
            </a:pPr>
            <a:r>
              <a:rPr kumimoji="1" lang="ko-KR" altLang="en-US" dirty="0"/>
              <a:t>가지고 있는 데이터에 </a:t>
            </a:r>
            <a:r>
              <a:rPr kumimoji="1" lang="ko-KR" altLang="en-US" b="1" dirty="0"/>
              <a:t>독립변수</a:t>
            </a:r>
            <a:r>
              <a:rPr kumimoji="1" lang="ko-KR" altLang="en-US" dirty="0"/>
              <a:t>와 </a:t>
            </a:r>
            <a:r>
              <a:rPr kumimoji="1" lang="ko-KR" altLang="en-US" b="1" dirty="0"/>
              <a:t>종속변수</a:t>
            </a:r>
            <a:r>
              <a:rPr kumimoji="1" lang="ko-KR" altLang="en-US" dirty="0"/>
              <a:t>가 있고</a:t>
            </a:r>
            <a:r>
              <a:rPr kumimoji="1" lang="en-US" altLang="ko-KR" dirty="0"/>
              <a:t>,</a:t>
            </a:r>
          </a:p>
          <a:p>
            <a:pPr algn="ctr">
              <a:lnSpc>
                <a:spcPct val="150000"/>
              </a:lnSpc>
            </a:pPr>
            <a:r>
              <a:rPr kumimoji="1" lang="ko-KR" altLang="en-US" b="1" dirty="0">
                <a:solidFill>
                  <a:srgbClr val="FF0000"/>
                </a:solidFill>
              </a:rPr>
              <a:t>종속변수</a:t>
            </a:r>
            <a:r>
              <a:rPr kumimoji="1" lang="ko-KR" altLang="en-US" dirty="0">
                <a:solidFill>
                  <a:srgbClr val="FF0000"/>
                </a:solidFill>
              </a:rPr>
              <a:t>가 </a:t>
            </a:r>
            <a:r>
              <a:rPr kumimoji="1" lang="ko-KR" altLang="en-US" b="1" dirty="0">
                <a:solidFill>
                  <a:srgbClr val="FF0000"/>
                </a:solidFill>
              </a:rPr>
              <a:t>확률</a:t>
            </a:r>
            <a:r>
              <a:rPr kumimoji="1" lang="ko-KR" altLang="en-US" dirty="0">
                <a:solidFill>
                  <a:srgbClr val="FF0000"/>
                </a:solidFill>
              </a:rPr>
              <a:t>일때 </a:t>
            </a:r>
            <a:r>
              <a:rPr kumimoji="1" lang="ko-KR" altLang="en-US" b="1" dirty="0">
                <a:solidFill>
                  <a:srgbClr val="FF0000"/>
                </a:solidFill>
              </a:rPr>
              <a:t>로지스틱 회귀</a:t>
            </a:r>
            <a:r>
              <a:rPr kumimoji="1" lang="ko-KR" altLang="en-US" dirty="0">
                <a:solidFill>
                  <a:srgbClr val="FF0000"/>
                </a:solidFill>
              </a:rPr>
              <a:t>를 이용하면 됩니다</a:t>
            </a:r>
            <a:r>
              <a:rPr kumimoji="1" lang="en-US" altLang="ko-KR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1349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지난시간 복습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51280F-CD58-3E2A-E267-E6AC18D9A5B0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53B316F-82CD-11F8-CED9-4C0B63D69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960" y="1690688"/>
            <a:ext cx="7498080" cy="421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526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지난시간 복습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51280F-CD58-3E2A-E267-E6AC18D9A5B0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8C0A48-D118-2539-CFF4-1B048545AB9C}"/>
              </a:ext>
            </a:extLst>
          </p:cNvPr>
          <p:cNvSpPr txBox="1"/>
          <p:nvPr/>
        </p:nvSpPr>
        <p:spPr>
          <a:xfrm>
            <a:off x="2353056" y="3429000"/>
            <a:ext cx="162256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ore-KR" altLang="en-US" b="1" dirty="0"/>
              <a:t>수치형</a:t>
            </a:r>
            <a:r>
              <a:rPr kumimoji="1" lang="ko-KR" altLang="en-US" b="1" dirty="0"/>
              <a:t> 데이터</a:t>
            </a:r>
            <a:endParaRPr kumimoji="1" lang="en-US" altLang="ko-KR" b="1" dirty="0"/>
          </a:p>
          <a:p>
            <a:pPr algn="ctr"/>
            <a:endParaRPr kumimoji="1" lang="en-US" altLang="ko-Kore-KR" b="1" dirty="0"/>
          </a:p>
          <a:p>
            <a:pPr algn="ctr"/>
            <a:r>
              <a:rPr kumimoji="1" lang="en-US" altLang="ko-Kore-KR" b="1" dirty="0"/>
              <a:t>Or</a:t>
            </a:r>
          </a:p>
          <a:p>
            <a:pPr algn="ctr"/>
            <a:endParaRPr kumimoji="1" lang="en-US" altLang="ko-Kore-KR" b="1" dirty="0"/>
          </a:p>
          <a:p>
            <a:pPr algn="ctr"/>
            <a:r>
              <a:rPr kumimoji="1" lang="ko-KR" altLang="en-US" b="1" dirty="0"/>
              <a:t>범주형 데이터</a:t>
            </a:r>
            <a:endParaRPr kumimoji="1" lang="ko-Kore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AA0AA1-27D1-1C6E-E3BA-15286CF924C8}"/>
              </a:ext>
            </a:extLst>
          </p:cNvPr>
          <p:cNvSpPr txBox="1"/>
          <p:nvPr/>
        </p:nvSpPr>
        <p:spPr>
          <a:xfrm>
            <a:off x="7405106" y="3982998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b="1" dirty="0"/>
              <a:t>확률형 데이터</a:t>
            </a:r>
            <a:endParaRPr kumimoji="1" lang="ko-Kore-KR" altLang="en-US" b="1" dirty="0"/>
          </a:p>
        </p:txBody>
      </p:sp>
      <p:sp>
        <p:nvSpPr>
          <p:cNvPr id="9" name="왼쪽 화살표[L] 8">
            <a:extLst>
              <a:ext uri="{FF2B5EF4-FFF2-40B4-BE49-F238E27FC236}">
                <a16:creationId xmlns:a16="http://schemas.microsoft.com/office/drawing/2014/main" id="{15CBADA0-178E-EE53-59CE-863B55F636E3}"/>
              </a:ext>
            </a:extLst>
          </p:cNvPr>
          <p:cNvSpPr/>
          <p:nvPr/>
        </p:nvSpPr>
        <p:spPr>
          <a:xfrm rot="10800000">
            <a:off x="5169408" y="3879259"/>
            <a:ext cx="1164503" cy="576810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81258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로지스틱 회귀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51280F-CD58-3E2A-E267-E6AC18D9A5B0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A7C69E6-CAB7-9A18-44C7-07CD1F983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963" y="2167985"/>
            <a:ext cx="7060073" cy="392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389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E31EC03-D72B-94AA-C168-E0FF7E997512}"/>
              </a:ext>
            </a:extLst>
          </p:cNvPr>
          <p:cNvSpPr/>
          <p:nvPr/>
        </p:nvSpPr>
        <p:spPr>
          <a:xfrm rot="10800000">
            <a:off x="0" y="0"/>
            <a:ext cx="12237003" cy="6858000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C32B87-7FA0-FA6B-E4DC-C1399EE5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66218"/>
            <a:ext cx="10515600" cy="1325563"/>
          </a:xfrm>
        </p:spPr>
        <p:txBody>
          <a:bodyPr/>
          <a:lstStyle/>
          <a:p>
            <a:pPr algn="ctr"/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1.</a:t>
            </a:r>
            <a:r>
              <a:rPr kumimoji="1" lang="ko-KR" altLang="en-US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군집화 알고리즘</a:t>
            </a:r>
            <a:endParaRPr kumimoji="1" lang="ko-Kore-KR" altLang="en-US" b="1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2482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비지도 학습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51280F-CD58-3E2A-E267-E6AC18D9A5B0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BBF5AD8-9643-9A10-0D32-1F133A2BC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670" y="1690688"/>
            <a:ext cx="7716659" cy="434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113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군집화 알고리즘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51280F-CD58-3E2A-E267-E6AC18D9A5B0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19C585B-0C40-5A13-39E3-B281F18FF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740" y="1690688"/>
            <a:ext cx="7592519" cy="427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783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군집화 알고리즘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51280F-CD58-3E2A-E267-E6AC18D9A5B0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90D7317-3D91-0599-2BE4-0C7AD8025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337" y="1608504"/>
            <a:ext cx="8683326" cy="488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945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kumimoji="1" lang="en-US" altLang="ko-Kore-KR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?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2129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E31EC03-D72B-94AA-C168-E0FF7E997512}"/>
              </a:ext>
            </a:extLst>
          </p:cNvPr>
          <p:cNvSpPr/>
          <p:nvPr/>
        </p:nvSpPr>
        <p:spPr>
          <a:xfrm rot="10800000">
            <a:off x="0" y="0"/>
            <a:ext cx="12237003" cy="6858000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C32B87-7FA0-FA6B-E4DC-C1399EE5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66218"/>
            <a:ext cx="10515600" cy="1325563"/>
          </a:xfrm>
        </p:spPr>
        <p:txBody>
          <a:bodyPr/>
          <a:lstStyle/>
          <a:p>
            <a:pPr algn="ctr"/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2.</a:t>
            </a:r>
            <a:r>
              <a:rPr kumimoji="1" lang="ko-KR" altLang="en-US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연관규칙추론</a:t>
            </a:r>
            <a:endParaRPr kumimoji="1" lang="ko-Kore-KR" altLang="en-US" b="1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0838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연관규칙추론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51280F-CD58-3E2A-E267-E6AC18D9A5B0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DE6D149-D8C4-346D-B4BB-82211F7BB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969" y="1456958"/>
            <a:ext cx="8972062" cy="504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3189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연관규칙추론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51280F-CD58-3E2A-E267-E6AC18D9A5B0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F33D200-3267-3E53-EA69-A7B69235A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169" y="1690688"/>
            <a:ext cx="8565662" cy="481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00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E31EC03-D72B-94AA-C168-E0FF7E997512}"/>
              </a:ext>
            </a:extLst>
          </p:cNvPr>
          <p:cNvSpPr/>
          <p:nvPr/>
        </p:nvSpPr>
        <p:spPr>
          <a:xfrm rot="10800000">
            <a:off x="0" y="0"/>
            <a:ext cx="12237003" cy="6858000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C32B87-7FA0-FA6B-E4DC-C1399EE5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66218"/>
            <a:ext cx="10515600" cy="1325563"/>
          </a:xfrm>
        </p:spPr>
        <p:txBody>
          <a:bodyPr/>
          <a:lstStyle/>
          <a:p>
            <a:pPr algn="ctr"/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3.</a:t>
            </a:r>
            <a:r>
              <a:rPr kumimoji="1" lang="ko-KR" altLang="en-US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군집화 </a:t>
            </a:r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vs </a:t>
            </a:r>
            <a:r>
              <a:rPr kumimoji="1" lang="ko-KR" altLang="en-US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연관규칙추론</a:t>
            </a:r>
            <a:endParaRPr kumimoji="1" lang="ko-Kore-KR" altLang="en-US" b="1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3827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군집화 </a:t>
            </a:r>
            <a:r>
              <a:rPr kumimoji="1" lang="en-US" altLang="ko-KR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vs 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연관규칙추론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51280F-CD58-3E2A-E267-E6AC18D9A5B0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D0BDDB5-FF55-B86E-8E3D-17325555C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671" y="1690688"/>
            <a:ext cx="8160657" cy="459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603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4A7E6B4-21D7-8DB8-266F-00ADB3542C0E}"/>
              </a:ext>
            </a:extLst>
          </p:cNvPr>
          <p:cNvSpPr/>
          <p:nvPr/>
        </p:nvSpPr>
        <p:spPr>
          <a:xfrm rot="10800000">
            <a:off x="0" y="0"/>
            <a:ext cx="12237003" cy="6858000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C32B87-7FA0-FA6B-E4DC-C1399EE5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66218"/>
            <a:ext cx="10515600" cy="1325563"/>
          </a:xfrm>
        </p:spPr>
        <p:txBody>
          <a:bodyPr/>
          <a:lstStyle/>
          <a:p>
            <a:pPr algn="ctr"/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&lt;</a:t>
            </a:r>
            <a:r>
              <a:rPr kumimoji="1" lang="ko-KR" altLang="en-US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코드 미리보기</a:t>
            </a:r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&gt;</a:t>
            </a:r>
            <a:endParaRPr kumimoji="1" lang="ko-Kore-KR" altLang="en-US" b="1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63127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81458D3-79FD-7388-E8DD-629A63916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305" y="2110418"/>
            <a:ext cx="5691389" cy="345293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코드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ko-Kore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미리보기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51280F-CD58-3E2A-E267-E6AC18D9A5B0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BBFCC07-743B-0A6F-5001-0DDF9C969E1D}"/>
              </a:ext>
            </a:extLst>
          </p:cNvPr>
          <p:cNvSpPr/>
          <p:nvPr/>
        </p:nvSpPr>
        <p:spPr>
          <a:xfrm>
            <a:off x="7181426" y="2354998"/>
            <a:ext cx="1593297" cy="4939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192BEB-E54F-25E5-FF8D-8F42855C7ED5}"/>
              </a:ext>
            </a:extLst>
          </p:cNvPr>
          <p:cNvSpPr/>
          <p:nvPr/>
        </p:nvSpPr>
        <p:spPr>
          <a:xfrm>
            <a:off x="3457477" y="4911118"/>
            <a:ext cx="3723949" cy="4939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522949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D10AD24-3FD2-FE73-B3BD-333655105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751" y="1508604"/>
            <a:ext cx="6992497" cy="498427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코드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ko-Kore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미리보기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51280F-CD58-3E2A-E267-E6AC18D9A5B0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76D644E-1E6A-CDBD-9C39-274CDD63B505}"/>
              </a:ext>
            </a:extLst>
          </p:cNvPr>
          <p:cNvSpPr/>
          <p:nvPr/>
        </p:nvSpPr>
        <p:spPr>
          <a:xfrm>
            <a:off x="2664173" y="1724244"/>
            <a:ext cx="1429655" cy="1800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A47245E-D569-B83F-F476-4A70A3250CBA}"/>
              </a:ext>
            </a:extLst>
          </p:cNvPr>
          <p:cNvSpPr/>
          <p:nvPr/>
        </p:nvSpPr>
        <p:spPr>
          <a:xfrm>
            <a:off x="2685945" y="2137902"/>
            <a:ext cx="986169" cy="1800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296056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B9A42A0-AEEE-3CAF-7139-DB3F54039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837" y="1955984"/>
            <a:ext cx="5855091" cy="418220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코드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ko-Kore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미리보기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51280F-CD58-3E2A-E267-E6AC18D9A5B0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0E47911-EB62-5C97-B0AC-7A9DE2A5463A}"/>
              </a:ext>
            </a:extLst>
          </p:cNvPr>
          <p:cNvSpPr/>
          <p:nvPr/>
        </p:nvSpPr>
        <p:spPr>
          <a:xfrm>
            <a:off x="3562869" y="4656594"/>
            <a:ext cx="2646861" cy="390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76D644E-1E6A-CDBD-9C39-274CDD63B505}"/>
              </a:ext>
            </a:extLst>
          </p:cNvPr>
          <p:cNvSpPr/>
          <p:nvPr/>
        </p:nvSpPr>
        <p:spPr>
          <a:xfrm>
            <a:off x="3126357" y="2180967"/>
            <a:ext cx="5397712" cy="390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76E3104-D0D6-EB3A-6B3E-F2CD19729A19}"/>
              </a:ext>
            </a:extLst>
          </p:cNvPr>
          <p:cNvSpPr/>
          <p:nvPr/>
        </p:nvSpPr>
        <p:spPr>
          <a:xfrm>
            <a:off x="3560563" y="3199216"/>
            <a:ext cx="615651" cy="390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177173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3493EEAF-FA6F-10A9-DD70-99A0285260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784"/>
          <a:stretch/>
        </p:blipFill>
        <p:spPr>
          <a:xfrm>
            <a:off x="946593" y="1850134"/>
            <a:ext cx="5642891" cy="426678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83FC246-2EBD-4DD4-9176-CC2715C6DF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2216"/>
          <a:stretch/>
        </p:blipFill>
        <p:spPr>
          <a:xfrm>
            <a:off x="4797480" y="2133391"/>
            <a:ext cx="5642891" cy="259121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ore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코드</a:t>
            </a:r>
            <a:r>
              <a:rPr kumimoji="1" lang="ko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ko-Kore-KR" altLang="en-US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미리보기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51280F-CD58-3E2A-E267-E6AC18D9A5B0}"/>
              </a:ext>
            </a:extLst>
          </p:cNvPr>
          <p:cNvSpPr/>
          <p:nvPr/>
        </p:nvSpPr>
        <p:spPr>
          <a:xfrm rot="10800000">
            <a:off x="636746" y="660072"/>
            <a:ext cx="86527" cy="644795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0E47911-EB62-5C97-B0AC-7A9DE2A5463A}"/>
              </a:ext>
            </a:extLst>
          </p:cNvPr>
          <p:cNvSpPr/>
          <p:nvPr/>
        </p:nvSpPr>
        <p:spPr>
          <a:xfrm>
            <a:off x="4923556" y="3153251"/>
            <a:ext cx="2559810" cy="7250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655037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4A7E6B4-21D7-8DB8-266F-00ADB3542C0E}"/>
              </a:ext>
            </a:extLst>
          </p:cNvPr>
          <p:cNvSpPr/>
          <p:nvPr/>
        </p:nvSpPr>
        <p:spPr>
          <a:xfrm rot="10800000">
            <a:off x="0" y="0"/>
            <a:ext cx="12237003" cy="6858000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C32B87-7FA0-FA6B-E4DC-C1399EE5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66218"/>
            <a:ext cx="10515600" cy="1325563"/>
          </a:xfrm>
        </p:spPr>
        <p:txBody>
          <a:bodyPr/>
          <a:lstStyle/>
          <a:p>
            <a:pPr algn="ctr"/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&lt;</a:t>
            </a:r>
            <a:r>
              <a:rPr kumimoji="1" lang="ko-KR" altLang="en-US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실습</a:t>
            </a:r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&gt;</a:t>
            </a:r>
            <a:endParaRPr kumimoji="1" lang="ko-Kore-KR" altLang="en-US" b="1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69192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EB02B8B-A923-01F1-223E-D67599DF1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499" y="1263524"/>
            <a:ext cx="7919002" cy="4330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520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C9F6582-7BB4-A51D-00C5-DA144C2FB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700" y="457200"/>
            <a:ext cx="7594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9177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BE3B1-3FF7-456A-64C1-6E3F4ED4E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kumimoji="1" lang="en-US" altLang="ko-Kore-KR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?</a:t>
            </a:r>
            <a:endParaRPr kumimoji="1" lang="ko-Kore-KR" altLang="en-US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91205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0F7CCEB-5DB4-C9DE-1681-F27A87547145}"/>
              </a:ext>
            </a:extLst>
          </p:cNvPr>
          <p:cNvSpPr/>
          <p:nvPr/>
        </p:nvSpPr>
        <p:spPr>
          <a:xfrm rot="10800000">
            <a:off x="0" y="0"/>
            <a:ext cx="12237003" cy="6858000"/>
          </a:xfrm>
          <a:prstGeom prst="rect">
            <a:avLst/>
          </a:prstGeom>
          <a:gradFill flip="none" rotWithShape="1">
            <a:gsLst>
              <a:gs pos="0">
                <a:srgbClr val="59EB93"/>
              </a:gs>
              <a:gs pos="100000">
                <a:srgbClr val="4FB2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C32B87-7FA0-FA6B-E4DC-C1399EE5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66218"/>
            <a:ext cx="10515600" cy="1325563"/>
          </a:xfrm>
        </p:spPr>
        <p:txBody>
          <a:bodyPr/>
          <a:lstStyle/>
          <a:p>
            <a:pPr algn="ctr"/>
            <a:r>
              <a:rPr kumimoji="1" lang="ko-KR" altLang="en-US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세션 끝</a:t>
            </a:r>
            <a:r>
              <a:rPr kumimoji="1" lang="en-US" altLang="ko-KR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!</a:t>
            </a:r>
            <a:endParaRPr kumimoji="1" lang="ko-Kore-KR" altLang="en-US" b="1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5535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1392</TotalTime>
  <Words>159</Words>
  <Application>Microsoft Macintosh PowerPoint</Application>
  <PresentationFormat>와이드스크린</PresentationFormat>
  <Paragraphs>67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7" baseType="lpstr">
      <vt:lpstr>Malgun Gothic</vt:lpstr>
      <vt:lpstr>Arial</vt:lpstr>
      <vt:lpstr>Calibri</vt:lpstr>
      <vt:lpstr>Calibri Light</vt:lpstr>
      <vt:lpstr>Office 테마</vt:lpstr>
      <vt:lpstr>세션 로딩 중</vt:lpstr>
      <vt:lpstr>PowerPoint 프레젠테이션</vt:lpstr>
      <vt:lpstr>군집화 알고리즘</vt:lpstr>
      <vt:lpstr>학습목표</vt:lpstr>
      <vt:lpstr>0. 지난시간 복습</vt:lpstr>
      <vt:lpstr>지난시간 복습</vt:lpstr>
      <vt:lpstr>지난시간 복습</vt:lpstr>
      <vt:lpstr>지난시간 복습</vt:lpstr>
      <vt:lpstr>지난시간 복습</vt:lpstr>
      <vt:lpstr>지난시간 복습</vt:lpstr>
      <vt:lpstr>지난시간 복습</vt:lpstr>
      <vt:lpstr>로지스틱 회귀</vt:lpstr>
      <vt:lpstr>1. 군집화 알고리즘</vt:lpstr>
      <vt:lpstr>비지도 학습</vt:lpstr>
      <vt:lpstr>군집화 알고리즘</vt:lpstr>
      <vt:lpstr>군집화 알고리즘</vt:lpstr>
      <vt:lpstr>?</vt:lpstr>
      <vt:lpstr>2. 연관규칙추론</vt:lpstr>
      <vt:lpstr>연관규칙추론</vt:lpstr>
      <vt:lpstr>연관규칙추론</vt:lpstr>
      <vt:lpstr>3. 군집화 vs 연관규칙추론</vt:lpstr>
      <vt:lpstr>군집화 vs 연관규칙추론</vt:lpstr>
      <vt:lpstr>&lt;코드 미리보기&gt;</vt:lpstr>
      <vt:lpstr>코드 미리보기</vt:lpstr>
      <vt:lpstr>코드 미리보기</vt:lpstr>
      <vt:lpstr>코드 미리보기</vt:lpstr>
      <vt:lpstr>코드 미리보기</vt:lpstr>
      <vt:lpstr>&lt;실습&gt;</vt:lpstr>
      <vt:lpstr>PowerPoint 프레젠테이션</vt:lpstr>
      <vt:lpstr>PowerPoint 프레젠테이션</vt:lpstr>
      <vt:lpstr>?</vt:lpstr>
      <vt:lpstr>세션 끝!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세션 로딩 중</dc:title>
  <dc:creator>김지욱[ 학부재학 / 경영학과 ]</dc:creator>
  <cp:lastModifiedBy>김지욱[ 학부재학 / 경영학과 ]</cp:lastModifiedBy>
  <cp:revision>110</cp:revision>
  <dcterms:created xsi:type="dcterms:W3CDTF">2022-05-03T14:23:48Z</dcterms:created>
  <dcterms:modified xsi:type="dcterms:W3CDTF">2022-07-05T09:09:51Z</dcterms:modified>
</cp:coreProperties>
</file>
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2" r:id="rId3"/>
    <p:sldId id="279" r:id="rId4"/>
    <p:sldId id="259" r:id="rId5"/>
    <p:sldId id="264" r:id="rId6"/>
    <p:sldId id="307" r:id="rId7"/>
    <p:sldId id="280" r:id="rId8"/>
    <p:sldId id="296" r:id="rId9"/>
    <p:sldId id="300" r:id="rId10"/>
    <p:sldId id="308" r:id="rId11"/>
    <p:sldId id="309" r:id="rId12"/>
    <p:sldId id="297" r:id="rId13"/>
    <p:sldId id="301" r:id="rId14"/>
    <p:sldId id="302" r:id="rId15"/>
    <p:sldId id="303" r:id="rId16"/>
    <p:sldId id="295" r:id="rId17"/>
    <p:sldId id="305" r:id="rId18"/>
    <p:sldId id="306" r:id="rId19"/>
    <p:sldId id="304" r:id="rId20"/>
    <p:sldId id="270" r:id="rId21"/>
    <p:sldId id="293" r:id="rId22"/>
    <p:sldId id="310" r:id="rId23"/>
    <p:sldId id="311" r:id="rId24"/>
    <p:sldId id="316" r:id="rId25"/>
    <p:sldId id="294" r:id="rId26"/>
    <p:sldId id="312" r:id="rId27"/>
    <p:sldId id="317" r:id="rId28"/>
    <p:sldId id="318" r:id="rId29"/>
    <p:sldId id="322" r:id="rId30"/>
    <p:sldId id="283" r:id="rId31"/>
    <p:sldId id="291" r:id="rId32"/>
    <p:sldId id="319" r:id="rId33"/>
    <p:sldId id="282" r:id="rId34"/>
    <p:sldId id="320" r:id="rId35"/>
    <p:sldId id="321" r:id="rId36"/>
    <p:sldId id="290" r:id="rId37"/>
    <p:sldId id="276" r:id="rId38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2D9"/>
    <a:srgbClr val="59EB93"/>
    <a:srgbClr val="488FFF"/>
    <a:srgbClr val="49CAFF"/>
    <a:srgbClr val="0C6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2"/>
    <p:restoredTop sz="96327"/>
  </p:normalViewPr>
  <p:slideViewPr>
    <p:cSldViewPr snapToGrid="0" snapToObjects="1">
      <p:cViewPr varScale="1">
        <p:scale>
          <a:sx n="62" d="100"/>
          <a:sy n="62" d="100"/>
        </p:scale>
        <p:origin x="216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741B-1E58-3AD6-C132-A998DE28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61FC2B-9B08-B522-BC94-93B7DA934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36C5B-D597-1EA2-F606-DBDC32D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3AB97-3DED-7F6C-DA8F-335FAC97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A738B-1D64-25C2-07E8-37235240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757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6B3C3-D14C-05A2-87E0-497F2206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C70AC-F0B3-96E1-3F46-E7413F9CA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37DAD-D5EC-B044-A562-09FDCF2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9E91A-1982-6DDB-EDC8-58F45BE0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EC775-FF35-51C7-7589-D68F78BA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51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8FC2E-1F96-8C83-FAC0-8BAC22BB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2F78F-6AB3-E798-D954-4569BBFE6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A002B-46CE-DFC9-B211-47F694C6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EFE8-7938-8EBB-89AC-EEC2D6DB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5D0FB-A869-8610-5A8A-E135CDC0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5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429B4-12CD-D7B8-13F3-A4F4E8BB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C87DB-CA31-0907-B61D-A7384004F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B02E39-CCCD-8554-E4DD-22924D5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7D24AB-7766-EBBC-C6CF-5DC96A1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CE8F0-18EB-9B65-C6EA-06C5F619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B7E50-B168-C538-34BF-420334EB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31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8FC48-A1B8-A9F7-32C8-A7FCDDF4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703E9-E847-CB4F-361C-9A22A1F6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0877ED-DEC4-8590-0E3A-B2D02E726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31689-E524-6AD4-9F65-01F3CE44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D1A11-7384-6959-9477-060C48227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1EA328-D997-9B52-BCD6-852C6D62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AB4AA8-C79E-90B2-3E62-46C35D29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6CE08-FC7D-7D42-4F96-4E8B8B55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7928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4042C-04D8-ABBA-1F0B-7551CD9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2DFB25-AF1A-D138-388F-61982560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E16820-C294-D965-6C6E-0EBE67E7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DD4EED-B619-CF46-0F10-34A21A0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009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C672F8-00B6-3314-944B-9B27F534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C50111-D4DE-6C32-603A-4B7949B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C6C9D-AD0C-D3B5-07D8-DB230B40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642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55BE2-B63C-7244-CEAE-EEC35A48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ADF54-A7D3-F9C3-E3BD-434E0B6C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8AB5B2-D97E-A26C-D6A2-087697B7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1BE38-8D17-D085-8879-FD98DC2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3B2F4-658D-5EBD-30BC-FB094632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DABCAB-FFF5-7B95-7BE2-5C55DB16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662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4B5E5-A903-B7F0-07DF-D6DFB297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BFF731-0EF8-9C7C-323E-A04B64A36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E730F-C343-85BE-4723-CC1F35D83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91070-6EA9-6FEF-0511-933CD213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B8213-6474-BB33-40A1-11E02788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B19D7-904B-BA7A-93F8-3C2FC99D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786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7058C-41D7-0E73-B9EE-F9A55D64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783A5-CE21-0BEE-BA06-75719C0A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ACB1-CB6D-3A5B-FF4C-7D2A86E9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FBECC-B1C8-6255-A18E-B1ABE6D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503A0-F364-0BC1-2C92-FE7226E6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117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11A67B-9252-8593-708C-847DF5557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A405A4-B0EE-6BE6-2B73-8B93AF45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404A5-D3B8-123A-7F22-10E56DD7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575DE-CB87-3097-8234-13A8DD8A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D10DB-B43C-DADB-2A10-DE009E71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635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4FF11-D99F-F7B5-1A7C-2318BE4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74568-3801-39DB-0B97-F1CF8F2A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677DB-32A4-72A8-C486-3C6BB7F9A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99ECF-BE6D-7248-80F1-E6948D730B15}" type="datetimeFigureOut">
              <a:rPr kumimoji="1" lang="ko-Kore-KR" altLang="en-US" smtClean="0"/>
              <a:t>6/27/22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6BF37-83F7-5EF3-994A-CE3D90489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0DF84-7359-5E38-B4FB-662D3F7DC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516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B49254-1834-5171-8A65-C0F51C8A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2508250"/>
            <a:ext cx="2794000" cy="18415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E4E6E3-502B-5549-8907-EBE52AD9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968"/>
            <a:ext cx="10515600" cy="1325563"/>
          </a:xfrm>
        </p:spPr>
        <p:txBody>
          <a:bodyPr/>
          <a:lstStyle/>
          <a:p>
            <a:pPr algn="ctr"/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세션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로딩 중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6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r>
              <a:rPr kumimoji="1" lang="ko-Kore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인공지능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기초 </a:t>
            </a:r>
            <a:r>
              <a:rPr kumimoji="1" lang="en-US" altLang="ko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데이터셋 분리 </a:t>
            </a:r>
            <a:r>
              <a:rPr kumimoji="1" lang="en-US" altLang="ko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30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3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학습목표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 이해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vs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회귀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사례 기반의 회귀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모델 기반의 회귀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회귀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선형 회귀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특성 공학과 규제</a:t>
            </a:r>
            <a:endParaRPr kumimoji="1" lang="ko-Kore-KR" alt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48E596-68B0-7A51-3F45-A4A5A07972D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973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0.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지난시간 복습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0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7BBEEA-8E54-74A0-8295-6CF3CF7F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82" y="2054524"/>
            <a:ext cx="7165436" cy="390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8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355CD8F-56F7-4408-D961-5C8F3FC6F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08244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9B4184A5-C533-7144-BF10-73B2FC77F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7737"/>
            <a:ext cx="5473451" cy="1860118"/>
          </a:xfrm>
          <a:prstGeom prst="rect">
            <a:avLst/>
          </a:prstGeom>
        </p:spPr>
      </p:pic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748" y="2806451"/>
            <a:ext cx="3977381" cy="3358677"/>
          </a:xfrm>
          <a:prstGeom prst="rect">
            <a:avLst/>
          </a:prstGeom>
        </p:spPr>
      </p:pic>
      <p:sp>
        <p:nvSpPr>
          <p:cNvPr id="18" name="위로 굽은 화살표[B] 17">
            <a:extLst>
              <a:ext uri="{FF2B5EF4-FFF2-40B4-BE49-F238E27FC236}">
                <a16:creationId xmlns:a16="http://schemas.microsoft.com/office/drawing/2014/main" id="{A59D5A54-D175-8845-9508-5D94B5C3976F}"/>
              </a:ext>
            </a:extLst>
          </p:cNvPr>
          <p:cNvSpPr/>
          <p:nvPr/>
        </p:nvSpPr>
        <p:spPr>
          <a:xfrm rot="5400000">
            <a:off x="5461160" y="4141002"/>
            <a:ext cx="914400" cy="786581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523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11"/>
          <a:stretch/>
        </p:blipFill>
        <p:spPr>
          <a:xfrm>
            <a:off x="8578391" y="2193708"/>
            <a:ext cx="695609" cy="3358677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75E94C60-9C8F-9885-1800-F64C4B463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01"/>
          <a:stretch/>
        </p:blipFill>
        <p:spPr>
          <a:xfrm>
            <a:off x="1904621" y="2193708"/>
            <a:ext cx="3313116" cy="3358677"/>
          </a:xfrm>
          <a:prstGeom prst="rect">
            <a:avLst/>
          </a:prstGeom>
        </p:spPr>
      </p:pic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6096000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8372197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3265806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</p:spTree>
    <p:extLst>
      <p:ext uri="{BB962C8B-B14F-4D97-AF65-F5344CB8AC3E}">
        <p14:creationId xmlns:p14="http://schemas.microsoft.com/office/powerpoint/2010/main" val="2748704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데이터 준비하기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11"/>
          <a:stretch/>
        </p:blipFill>
        <p:spPr>
          <a:xfrm>
            <a:off x="8578391" y="2193708"/>
            <a:ext cx="695609" cy="3358677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75E94C60-9C8F-9885-1800-F64C4B463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01"/>
          <a:stretch/>
        </p:blipFill>
        <p:spPr>
          <a:xfrm>
            <a:off x="1904621" y="2193708"/>
            <a:ext cx="3313116" cy="3358677"/>
          </a:xfrm>
          <a:prstGeom prst="rect">
            <a:avLst/>
          </a:prstGeom>
        </p:spPr>
      </p:pic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6096000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8372197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3265806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</p:spTree>
    <p:extLst>
      <p:ext uri="{BB962C8B-B14F-4D97-AF65-F5344CB8AC3E}">
        <p14:creationId xmlns:p14="http://schemas.microsoft.com/office/powerpoint/2010/main" val="199882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5BC813-3F66-6ABE-27F6-D9DD45C8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86" y="2144827"/>
            <a:ext cx="9687228" cy="32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3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BBA7812-26D7-469E-04F6-068E78D0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3244"/>
            <a:ext cx="5181600" cy="1511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027"/>
          <a:stretch/>
        </p:blipFill>
        <p:spPr>
          <a:xfrm>
            <a:off x="4092608" y="3829286"/>
            <a:ext cx="2564483" cy="2609951"/>
          </a:xfrm>
          <a:prstGeom prst="rect">
            <a:avLst/>
          </a:prstGeom>
        </p:spPr>
      </p:pic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CDD39401-0B45-3A88-DDF3-540E4B00DA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944"/>
          <a:stretch/>
        </p:blipFill>
        <p:spPr>
          <a:xfrm>
            <a:off x="8299514" y="3849645"/>
            <a:ext cx="546990" cy="270822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A51AE83-BFA5-2E9C-FE76-42DED839F47A}"/>
              </a:ext>
            </a:extLst>
          </p:cNvPr>
          <p:cNvCxnSpPr>
            <a:cxnSpLocks/>
          </p:cNvCxnSpPr>
          <p:nvPr/>
        </p:nvCxnSpPr>
        <p:spPr>
          <a:xfrm flipH="1" flipV="1">
            <a:off x="2890696" y="2611196"/>
            <a:ext cx="2633411" cy="17014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37AD77-0F57-0405-AC8E-A6E652FE1A73}"/>
              </a:ext>
            </a:extLst>
          </p:cNvPr>
          <p:cNvCxnSpPr>
            <a:cxnSpLocks/>
          </p:cNvCxnSpPr>
          <p:nvPr/>
        </p:nvCxnSpPr>
        <p:spPr>
          <a:xfrm flipH="1" flipV="1">
            <a:off x="4284753" y="2611196"/>
            <a:ext cx="4095676" cy="17014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3371A4-76E1-A6BC-D0AC-53F2D11ED3C8}"/>
              </a:ext>
            </a:extLst>
          </p:cNvPr>
          <p:cNvSpPr txBox="1"/>
          <p:nvPr/>
        </p:nvSpPr>
        <p:spPr>
          <a:xfrm>
            <a:off x="3589549" y="257800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9B1388-6388-BC77-B145-BA898B611E1C}"/>
              </a:ext>
            </a:extLst>
          </p:cNvPr>
          <p:cNvSpPr txBox="1"/>
          <p:nvPr/>
        </p:nvSpPr>
        <p:spPr>
          <a:xfrm>
            <a:off x="2163192" y="257801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solidFill>
                  <a:srgbClr val="FF0000"/>
                </a:solidFill>
              </a:rPr>
              <a:t>독립변수</a:t>
            </a:r>
          </a:p>
        </p:txBody>
      </p:sp>
    </p:spTree>
    <p:extLst>
      <p:ext uri="{BB962C8B-B14F-4D97-AF65-F5344CB8AC3E}">
        <p14:creationId xmlns:p14="http://schemas.microsoft.com/office/powerpoint/2010/main" val="949861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지도학습의 이해 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248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11"/>
          <a:stretch/>
        </p:blipFill>
        <p:spPr>
          <a:xfrm>
            <a:off x="8578391" y="2193708"/>
            <a:ext cx="695609" cy="3358677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75E94C60-9C8F-9885-1800-F64C4B463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01"/>
          <a:stretch/>
        </p:blipFill>
        <p:spPr>
          <a:xfrm>
            <a:off x="1904621" y="2193708"/>
            <a:ext cx="3313116" cy="3358677"/>
          </a:xfrm>
          <a:prstGeom prst="rect">
            <a:avLst/>
          </a:prstGeom>
        </p:spPr>
      </p:pic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6096000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8372197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3265806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</p:spTree>
    <p:extLst>
      <p:ext uri="{BB962C8B-B14F-4D97-AF65-F5344CB8AC3E}">
        <p14:creationId xmlns:p14="http://schemas.microsoft.com/office/powerpoint/2010/main" val="4223748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75E94C60-9C8F-9885-1800-F64C4B463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423"/>
          <a:stretch/>
        </p:blipFill>
        <p:spPr>
          <a:xfrm>
            <a:off x="2441714" y="2193708"/>
            <a:ext cx="1932088" cy="3358677"/>
          </a:xfrm>
          <a:prstGeom prst="rect">
            <a:avLst/>
          </a:prstGeom>
        </p:spPr>
      </p:pic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6096000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8372197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2992429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2C255601-DC22-B2E9-E9E0-9DD86FC23F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18" r="16701"/>
          <a:stretch/>
        </p:blipFill>
        <p:spPr>
          <a:xfrm>
            <a:off x="8202687" y="2193708"/>
            <a:ext cx="1447015" cy="335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0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D72A-0C97-5623-2D82-F55C99966584}"/>
              </a:ext>
            </a:extLst>
          </p:cNvPr>
          <p:cNvSpPr txBox="1"/>
          <p:nvPr/>
        </p:nvSpPr>
        <p:spPr>
          <a:xfrm>
            <a:off x="4423907" y="2743200"/>
            <a:ext cx="33441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물고기의 종류를 예측하는 모델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/>
              <a:t>물고기의 무게를 예측하는 모델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45301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D72A-0C97-5623-2D82-F55C99966584}"/>
              </a:ext>
            </a:extLst>
          </p:cNvPr>
          <p:cNvSpPr txBox="1"/>
          <p:nvPr/>
        </p:nvSpPr>
        <p:spPr>
          <a:xfrm>
            <a:off x="4069103" y="2743200"/>
            <a:ext cx="40538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물고기의 종류 </a:t>
            </a:r>
            <a:r>
              <a:rPr kumimoji="1" lang="en-US" altLang="ko-KR" b="1" dirty="0"/>
              <a:t>=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1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or 2</a:t>
            </a:r>
            <a:r>
              <a:rPr kumimoji="1" lang="ko-KR" altLang="en-US" b="1" dirty="0"/>
              <a:t> 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/>
              <a:t>물고기의 무게 </a:t>
            </a:r>
            <a:r>
              <a:rPr kumimoji="1" lang="en-US" altLang="ko-KR" b="1" dirty="0"/>
              <a:t>=   min &lt; x   and   x &lt; max</a:t>
            </a:r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48839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D72A-0C97-5623-2D82-F55C99966584}"/>
              </a:ext>
            </a:extLst>
          </p:cNvPr>
          <p:cNvSpPr txBox="1"/>
          <p:nvPr/>
        </p:nvSpPr>
        <p:spPr>
          <a:xfrm>
            <a:off x="3890051" y="2743200"/>
            <a:ext cx="44119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물고기의 종류 </a:t>
            </a:r>
            <a:r>
              <a:rPr kumimoji="1" lang="en-US" altLang="ko-KR" b="1" dirty="0"/>
              <a:t>=</a:t>
            </a:r>
            <a:r>
              <a:rPr kumimoji="1" lang="ko-KR" altLang="en-US" b="1" dirty="0"/>
              <a:t> 범주형 데이터 </a:t>
            </a:r>
            <a:r>
              <a:rPr kumimoji="1" lang="en-US" altLang="ko-KR" b="1" dirty="0"/>
              <a:t>like </a:t>
            </a:r>
            <a:r>
              <a:rPr kumimoji="1" lang="ko-KR" altLang="en-US" b="1" dirty="0"/>
              <a:t>객관식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/>
              <a:t>물고기의 무게 </a:t>
            </a:r>
            <a:r>
              <a:rPr kumimoji="1" lang="en-US" altLang="ko-KR" b="1" dirty="0"/>
              <a:t>=</a:t>
            </a:r>
            <a:r>
              <a:rPr kumimoji="1" lang="ko-KR" altLang="en-US" b="1" dirty="0"/>
              <a:t> 수치형 데이터 </a:t>
            </a:r>
            <a:r>
              <a:rPr kumimoji="1" lang="en-US" altLang="ko-KR" b="1" dirty="0"/>
              <a:t>like </a:t>
            </a:r>
            <a:r>
              <a:rPr kumimoji="1" lang="ko-KR" altLang="en-US" b="1" dirty="0"/>
              <a:t>주관식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0284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지도학습의 이해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328C666-2816-548C-C275-994C4F1DA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3747BE-E2C9-7C67-19D1-36E27B631CB9}"/>
              </a:ext>
            </a:extLst>
          </p:cNvPr>
          <p:cNvSpPr/>
          <p:nvPr/>
        </p:nvSpPr>
        <p:spPr>
          <a:xfrm>
            <a:off x="3893269" y="3030718"/>
            <a:ext cx="1979629" cy="398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D1A3F3-1BC5-63EF-E391-32696B9A2083}"/>
              </a:ext>
            </a:extLst>
          </p:cNvPr>
          <p:cNvSpPr/>
          <p:nvPr/>
        </p:nvSpPr>
        <p:spPr>
          <a:xfrm>
            <a:off x="3940404" y="4812383"/>
            <a:ext cx="1979629" cy="398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1833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12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사례 기반 회귀 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모델 기반 회귀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83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사례 기반의 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5BC813-3F66-6ABE-27F6-D9DD45C8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86" y="2144827"/>
            <a:ext cx="9687228" cy="32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67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모델 기반의 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DF5280-41E8-887E-9CA2-DC59F3F4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466" y="2175375"/>
            <a:ext cx="5223067" cy="388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68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사례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기반의 회귀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모델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기반의 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BF23C-37F3-5CB7-9B97-CF5BD27BAE25}"/>
              </a:ext>
            </a:extLst>
          </p:cNvPr>
          <p:cNvSpPr txBox="1"/>
          <p:nvPr/>
        </p:nvSpPr>
        <p:spPr>
          <a:xfrm>
            <a:off x="4138477" y="3190473"/>
            <a:ext cx="391504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500" dirty="0" err="1"/>
              <a:t>최근접이웃</a:t>
            </a:r>
            <a:r>
              <a:rPr kumimoji="1" lang="ko-KR" altLang="en-US" sz="2500" dirty="0"/>
              <a:t>    </a:t>
            </a:r>
            <a:r>
              <a:rPr kumimoji="1" lang="en-US" altLang="ko-KR" sz="2500" dirty="0"/>
              <a:t>vs</a:t>
            </a:r>
            <a:r>
              <a:rPr kumimoji="1" lang="ko-KR" altLang="en-US" sz="2500" dirty="0"/>
              <a:t>    선형회귀</a:t>
            </a:r>
          </a:p>
        </p:txBody>
      </p:sp>
    </p:spTree>
    <p:extLst>
      <p:ext uri="{BB962C8B-B14F-4D97-AF65-F5344CB8AC3E}">
        <p14:creationId xmlns:p14="http://schemas.microsoft.com/office/powerpoint/2010/main" val="3514526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특성 공학과 규제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827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특성 공학과 규제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59BE7D-3A3A-AF51-EEC3-0132D860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88" y="2538568"/>
            <a:ext cx="9473624" cy="335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83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특성 공학과 규제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6096000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7999499" y="5870739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새로운 독립변수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3265806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C5171585-B4D4-CB25-DEF7-0CB8DB5DF1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728"/>
          <a:stretch/>
        </p:blipFill>
        <p:spPr>
          <a:xfrm>
            <a:off x="2209424" y="2475014"/>
            <a:ext cx="3220760" cy="2769054"/>
          </a:xfrm>
          <a:prstGeom prst="rect">
            <a:avLst/>
          </a:prstGeom>
        </p:spPr>
      </p:pic>
      <p:pic>
        <p:nvPicPr>
          <p:cNvPr id="13" name="그림 12" descr="테이블이(가) 표시된 사진&#10;&#10;자동 생성된 설명">
            <a:extLst>
              <a:ext uri="{FF2B5EF4-FFF2-40B4-BE49-F238E27FC236}">
                <a16:creationId xmlns:a16="http://schemas.microsoft.com/office/drawing/2014/main" id="{6662B312-81B0-DB28-45F7-CE2FDEB192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273"/>
          <a:stretch/>
        </p:blipFill>
        <p:spPr>
          <a:xfrm>
            <a:off x="7724788" y="2475014"/>
            <a:ext cx="2402813" cy="276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6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특성 공학과 규제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E1CAA61F-4306-1878-EB60-C08EE3952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11"/>
          <a:stretch/>
        </p:blipFill>
        <p:spPr>
          <a:xfrm>
            <a:off x="8784584" y="2193708"/>
            <a:ext cx="695609" cy="3358677"/>
          </a:xfrm>
          <a:prstGeom prst="rect">
            <a:avLst/>
          </a:prstGeom>
        </p:spPr>
      </p:pic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23DF1833-6896-DAAB-D749-8ED3C496FC01}"/>
              </a:ext>
            </a:extLst>
          </p:cNvPr>
          <p:cNvSpPr/>
          <p:nvPr/>
        </p:nvSpPr>
        <p:spPr>
          <a:xfrm>
            <a:off x="7359004" y="3497344"/>
            <a:ext cx="1121790" cy="4807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15979-1860-EC75-0B86-7186AAE22161}"/>
              </a:ext>
            </a:extLst>
          </p:cNvPr>
          <p:cNvSpPr txBox="1"/>
          <p:nvPr/>
        </p:nvSpPr>
        <p:spPr>
          <a:xfrm>
            <a:off x="8578390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C1A86-3B67-07FB-9D0D-96F59FAE3028}"/>
              </a:ext>
            </a:extLst>
          </p:cNvPr>
          <p:cNvSpPr txBox="1"/>
          <p:nvPr/>
        </p:nvSpPr>
        <p:spPr>
          <a:xfrm>
            <a:off x="3265806" y="58707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독립변수</a:t>
            </a: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0469BC88-8F80-7F68-FE02-62B9D0F55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2302401"/>
            <a:ext cx="5963014" cy="293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32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특성 공학과 규제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795018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&lt;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코드 미리보기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&gt;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312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9E7F9B9E-DA52-99BC-A919-409128AE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2782626"/>
            <a:ext cx="10131791" cy="225927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D644E-1E6A-CDBD-9C39-274CDD63B505}"/>
              </a:ext>
            </a:extLst>
          </p:cNvPr>
          <p:cNvSpPr/>
          <p:nvPr/>
        </p:nvSpPr>
        <p:spPr>
          <a:xfrm>
            <a:off x="3437992" y="2782626"/>
            <a:ext cx="2264307" cy="4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BFCC07-743B-0A6F-5001-0DDF9C969E1D}"/>
              </a:ext>
            </a:extLst>
          </p:cNvPr>
          <p:cNvSpPr/>
          <p:nvPr/>
        </p:nvSpPr>
        <p:spPr>
          <a:xfrm>
            <a:off x="7044792" y="2782626"/>
            <a:ext cx="3077108" cy="4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192BEB-E54F-25E5-FF8D-8F42855C7ED5}"/>
              </a:ext>
            </a:extLst>
          </p:cNvPr>
          <p:cNvSpPr/>
          <p:nvPr/>
        </p:nvSpPr>
        <p:spPr>
          <a:xfrm>
            <a:off x="1621892" y="4370126"/>
            <a:ext cx="613308" cy="4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656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75A50E67-EDAA-F67A-C0E0-089B56EE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33" y="2682584"/>
            <a:ext cx="9895482" cy="19275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1FB1B7-6223-31A9-6F28-EAB77C68F946}"/>
              </a:ext>
            </a:extLst>
          </p:cNvPr>
          <p:cNvSpPr/>
          <p:nvPr/>
        </p:nvSpPr>
        <p:spPr>
          <a:xfrm>
            <a:off x="3946567" y="3362377"/>
            <a:ext cx="799525" cy="282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E47911-EB62-5C97-B0AC-7A9DE2A5463A}"/>
              </a:ext>
            </a:extLst>
          </p:cNvPr>
          <p:cNvSpPr/>
          <p:nvPr/>
        </p:nvSpPr>
        <p:spPr>
          <a:xfrm>
            <a:off x="4060867" y="3842340"/>
            <a:ext cx="574634" cy="2825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D644E-1E6A-CDBD-9C39-274CDD63B505}"/>
              </a:ext>
            </a:extLst>
          </p:cNvPr>
          <p:cNvSpPr/>
          <p:nvPr/>
        </p:nvSpPr>
        <p:spPr>
          <a:xfrm>
            <a:off x="4733392" y="2882661"/>
            <a:ext cx="6074308" cy="3050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7717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&lt;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실습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&gt;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6919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상황 살펴보기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D05127-16FC-BA29-7646-FF94708F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457700" cy="4457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BB3103-AFB0-3C4C-D799-E29385D4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33030"/>
            <a:ext cx="3987800" cy="44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28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상황 살펴보기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D05127-16FC-BA29-7646-FF94708F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457700" cy="4457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081EFC-1DB5-2EC9-23BE-8E3E7ACDDE89}"/>
              </a:ext>
            </a:extLst>
          </p:cNvPr>
          <p:cNvSpPr txBox="1"/>
          <p:nvPr/>
        </p:nvSpPr>
        <p:spPr>
          <a:xfrm>
            <a:off x="5788106" y="29978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종속변수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8F77B-5AE3-9092-7518-D428243DC35B}"/>
              </a:ext>
            </a:extLst>
          </p:cNvPr>
          <p:cNvSpPr txBox="1"/>
          <p:nvPr/>
        </p:nvSpPr>
        <p:spPr>
          <a:xfrm>
            <a:off x="9271322" y="29746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독립변수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C2D26-261A-7EB8-70AF-045CEDF958D5}"/>
              </a:ext>
            </a:extLst>
          </p:cNvPr>
          <p:cNvSpPr txBox="1"/>
          <p:nvPr/>
        </p:nvSpPr>
        <p:spPr>
          <a:xfrm>
            <a:off x="9386738" y="39238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수요량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3EB987-C298-B6F3-817B-D825CA10A9FC}"/>
              </a:ext>
            </a:extLst>
          </p:cNvPr>
          <p:cNvSpPr txBox="1"/>
          <p:nvPr/>
        </p:nvSpPr>
        <p:spPr>
          <a:xfrm>
            <a:off x="5646240" y="392381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rgbClr val="FF0000"/>
                </a:solidFill>
              </a:rPr>
              <a:t>점포의 </a:t>
            </a:r>
            <a:r>
              <a:rPr kumimoji="1" lang="ko-KR" altLang="en-US" b="1" dirty="0" err="1">
                <a:solidFill>
                  <a:srgbClr val="FF0000"/>
                </a:solidFill>
              </a:rPr>
              <a:t>갯수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92C9C440-7CE7-6199-F093-65DC74533B51}"/>
              </a:ext>
            </a:extLst>
          </p:cNvPr>
          <p:cNvSpPr/>
          <p:nvPr/>
        </p:nvSpPr>
        <p:spPr>
          <a:xfrm>
            <a:off x="7644670" y="3921678"/>
            <a:ext cx="1006997" cy="37361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7289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652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F7CCEB-5DB4-C9DE-1681-F27A87547145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세션 끝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553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216</Words>
  <Application>Microsoft Macintosh PowerPoint</Application>
  <PresentationFormat>와이드스크린</PresentationFormat>
  <Paragraphs>80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Malgun Gothic</vt:lpstr>
      <vt:lpstr>Arial</vt:lpstr>
      <vt:lpstr>Calibri</vt:lpstr>
      <vt:lpstr>Calibri Light</vt:lpstr>
      <vt:lpstr>Office 테마</vt:lpstr>
      <vt:lpstr>세션 로딩 중</vt:lpstr>
      <vt:lpstr>PowerPoint 프레젠테이션</vt:lpstr>
      <vt:lpstr>인공지능 기초 / 데이터셋 분리 / 최근접이웃</vt:lpstr>
      <vt:lpstr>학습목표</vt:lpstr>
      <vt:lpstr>0. 지난시간 복습</vt:lpstr>
      <vt:lpstr>지난시간 복습</vt:lpstr>
      <vt:lpstr>지난시간 복습</vt:lpstr>
      <vt:lpstr>지난시간 복습</vt:lpstr>
      <vt:lpstr>지난시간 복습</vt:lpstr>
      <vt:lpstr>데이터 준비하기</vt:lpstr>
      <vt:lpstr>최근접이웃</vt:lpstr>
      <vt:lpstr>지난시간 복습</vt:lpstr>
      <vt:lpstr>1. 지도학습의 이해 : 분류 vs 회귀</vt:lpstr>
      <vt:lpstr>지도학습의 이해 : 분류 vs 회귀</vt:lpstr>
      <vt:lpstr>지도학습의 이해 : 분류 vs 회귀</vt:lpstr>
      <vt:lpstr>지도학습의 이해 : 분류 vs 회귀</vt:lpstr>
      <vt:lpstr>지도학습의 이해 : 분류 vs 회귀</vt:lpstr>
      <vt:lpstr>지도학습의 이해 : 분류 vs 회귀</vt:lpstr>
      <vt:lpstr>지도학습의 이해 : 분류 vs 회귀</vt:lpstr>
      <vt:lpstr>?</vt:lpstr>
      <vt:lpstr>2. 사례 기반 회귀 vs 모델 기반 회귀</vt:lpstr>
      <vt:lpstr>사례 기반의 회귀</vt:lpstr>
      <vt:lpstr>모델 기반의 회귀</vt:lpstr>
      <vt:lpstr>사례 기반의 회귀 vs 모델 기반의 회귀</vt:lpstr>
      <vt:lpstr>3. 특성 공학과 규제</vt:lpstr>
      <vt:lpstr>특성 공학과 규제</vt:lpstr>
      <vt:lpstr>특성 공학과 규제</vt:lpstr>
      <vt:lpstr>특성 공학과 규제</vt:lpstr>
      <vt:lpstr>특성 공학과 규제</vt:lpstr>
      <vt:lpstr>&lt;코드 미리보기&gt;</vt:lpstr>
      <vt:lpstr>코드 미리보기</vt:lpstr>
      <vt:lpstr>코드 미리보기</vt:lpstr>
      <vt:lpstr>&lt;실습&gt;</vt:lpstr>
      <vt:lpstr>상황 살펴보기</vt:lpstr>
      <vt:lpstr>상황 살펴보기</vt:lpstr>
      <vt:lpstr>?</vt:lpstr>
      <vt:lpstr>세션 끝!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세션 로딩 중</dc:title>
  <dc:creator>김지욱[ 학부재학 / 경영학과 ]</dc:creator>
  <cp:lastModifiedBy>김지욱[ 학부재학 / 경영학과 ]</cp:lastModifiedBy>
  <cp:revision>80</cp:revision>
  <dcterms:created xsi:type="dcterms:W3CDTF">2022-05-03T14:23:48Z</dcterms:created>
  <dcterms:modified xsi:type="dcterms:W3CDTF">2022-06-27T14:06:33Z</dcterms:modified>
</cp:coreProperties>
</file>